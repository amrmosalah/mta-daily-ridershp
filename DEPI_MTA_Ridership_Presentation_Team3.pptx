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93339-038B-4574-BFC2-C35E0239C5C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78D8D-E014-4569-9F11-C5FCA01D4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0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78D8D-E014-4569-9F11-C5FCA01D43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3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B2D1-ED0E-AA3A-C86E-3BBC6175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A79B-ACE8-B5BA-BC25-1FC578649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66B1E-217A-BEDD-36AD-C23B61E8F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C8145-207A-687A-06DA-9FB7B2859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D78D8D-E014-4569-9F11-C5FCA01D43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26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365125"/>
            <a:ext cx="78867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800" b="1" kern="120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rPr lang="en-US" sz="4800" kern="12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MTA Daily Ridership</a:t>
            </a:r>
            <a:br>
              <a:rPr lang="en-US" sz="4800" kern="12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US" sz="4800" kern="12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Final Graduation Project</a:t>
            </a:r>
          </a:p>
        </p:txBody>
      </p:sp>
      <p:pic>
        <p:nvPicPr>
          <p:cNvPr id="6" name="Picture 5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54E775AD-D322-547F-3FA3-339FFE70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9908" y="3105264"/>
            <a:ext cx="5566373" cy="3131084"/>
          </a:xfrm>
          <a:prstGeom prst="rect">
            <a:avLst/>
          </a:prstGeom>
        </p:spPr>
      </p:pic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1695109C-DA3B-B97E-3F92-DD491A6DDB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r="57286"/>
          <a:stretch>
            <a:fillRect/>
          </a:stretch>
        </p:blipFill>
        <p:spPr>
          <a:xfrm>
            <a:off x="5104023" y="2878633"/>
            <a:ext cx="3666351" cy="332625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393288" y="0"/>
            <a:ext cx="1075649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1BB65-EEAD-777D-8AD0-0FEA27B3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06ACCD-9164-6E46-4397-9F771BD3A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8E86593D-8E41-DD86-A004-5C8380AFA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4059" y="27091"/>
            <a:ext cx="3581373" cy="2014522"/>
          </a:xfrm>
          <a:prstGeom prst="rect">
            <a:avLst/>
          </a:prstGeom>
        </p:spPr>
      </p:pic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CCAC75B1-FD59-791D-1A4A-3B63204CD1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r="57286"/>
          <a:stretch>
            <a:fillRect/>
          </a:stretch>
        </p:blipFill>
        <p:spPr>
          <a:xfrm>
            <a:off x="7026011" y="264924"/>
            <a:ext cx="1958346" cy="17766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8C7C2F-65A7-EB9C-A8D6-BC4EEE31CCFD}"/>
              </a:ext>
            </a:extLst>
          </p:cNvPr>
          <p:cNvSpPr/>
          <p:nvPr/>
        </p:nvSpPr>
        <p:spPr>
          <a:xfrm>
            <a:off x="-393288" y="0"/>
            <a:ext cx="10756490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98BF2-7F93-A663-B061-D378CF1BAB47}"/>
              </a:ext>
            </a:extLst>
          </p:cNvPr>
          <p:cNvSpPr txBox="1"/>
          <p:nvPr/>
        </p:nvSpPr>
        <p:spPr>
          <a:xfrm>
            <a:off x="2176693" y="772988"/>
            <a:ext cx="4296775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>
              <a:defRPr sz="320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sz="2000" dirty="0"/>
              <a:t>Amr Salah</a:t>
            </a:r>
          </a:p>
          <a:p>
            <a:r>
              <a:rPr lang="en-US" sz="2000" dirty="0"/>
              <a:t>Noha Mohsen</a:t>
            </a:r>
          </a:p>
          <a:p>
            <a:r>
              <a:rPr lang="en-US" sz="2000" dirty="0"/>
              <a:t>Tony Mamdouh</a:t>
            </a:r>
          </a:p>
          <a:p>
            <a:r>
              <a:rPr lang="en-US" sz="2000" dirty="0"/>
              <a:t>Mostafa Ahmed</a:t>
            </a:r>
          </a:p>
          <a:p>
            <a:r>
              <a:rPr lang="en-US" sz="2000" dirty="0"/>
              <a:t>Mohamed Emad Kasem</a:t>
            </a:r>
          </a:p>
          <a:p>
            <a:r>
              <a:rPr lang="en-US" sz="2000" dirty="0"/>
              <a:t>Ahmed Mohamed Ibrahim Abdou</a:t>
            </a:r>
          </a:p>
          <a:p>
            <a:endParaRPr lang="en-US" sz="2000" dirty="0"/>
          </a:p>
        </p:txBody>
      </p:sp>
      <p:pic>
        <p:nvPicPr>
          <p:cNvPr id="11" name="Picture 10" descr="A person in a suit&#10;&#10;AI-generated content may be incorrect.">
            <a:extLst>
              <a:ext uri="{FF2B5EF4-FFF2-40B4-BE49-F238E27FC236}">
                <a16:creationId xmlns:a16="http://schemas.microsoft.com/office/drawing/2014/main" id="{7A1A6D1C-41BD-7E16-6FEA-FCCD46F72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64" y="2880506"/>
            <a:ext cx="2173851" cy="2173851"/>
          </a:xfrm>
          <a:prstGeom prst="rect">
            <a:avLst/>
          </a:prstGeom>
        </p:spPr>
      </p:pic>
      <p:pic>
        <p:nvPicPr>
          <p:cNvPr id="13" name="Picture 12" descr="A person in a suit&#10;&#10;AI-generated content may be incorrect.">
            <a:extLst>
              <a:ext uri="{FF2B5EF4-FFF2-40B4-BE49-F238E27FC236}">
                <a16:creationId xmlns:a16="http://schemas.microsoft.com/office/drawing/2014/main" id="{F6C5D3D3-2253-BB75-8FE1-E5A9785C0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65" y="4538866"/>
            <a:ext cx="2308324" cy="2308324"/>
          </a:xfrm>
          <a:prstGeom prst="rect">
            <a:avLst/>
          </a:prstGeom>
        </p:spPr>
      </p:pic>
      <p:pic>
        <p:nvPicPr>
          <p:cNvPr id="15" name="Picture 14" descr="A person wearing a white head scarf&#10;&#10;AI-generated content may be incorrect.">
            <a:extLst>
              <a:ext uri="{FF2B5EF4-FFF2-40B4-BE49-F238E27FC236}">
                <a16:creationId xmlns:a16="http://schemas.microsoft.com/office/drawing/2014/main" id="{3B97FA72-769C-7C18-A483-B0C02563E0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723" y="2633668"/>
            <a:ext cx="2233503" cy="2238614"/>
          </a:xfrm>
          <a:prstGeom prst="rect">
            <a:avLst/>
          </a:prstGeom>
        </p:spPr>
      </p:pic>
      <p:pic>
        <p:nvPicPr>
          <p:cNvPr id="17" name="Picture 16" descr="A person in a suit&#10;&#10;AI-generated content may be incorrect.">
            <a:extLst>
              <a:ext uri="{FF2B5EF4-FFF2-40B4-BE49-F238E27FC236}">
                <a16:creationId xmlns:a16="http://schemas.microsoft.com/office/drawing/2014/main" id="{B2136A25-9869-1CB3-DBC1-2B9CCCAF6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9118" y="2796309"/>
            <a:ext cx="2194138" cy="2194138"/>
          </a:xfrm>
          <a:prstGeom prst="rect">
            <a:avLst/>
          </a:prstGeom>
        </p:spPr>
      </p:pic>
      <p:pic>
        <p:nvPicPr>
          <p:cNvPr id="37" name="Picture 36" descr="A person in a tie&#10;&#10;AI-generated content may be incorrect.">
            <a:extLst>
              <a:ext uri="{FF2B5EF4-FFF2-40B4-BE49-F238E27FC236}">
                <a16:creationId xmlns:a16="http://schemas.microsoft.com/office/drawing/2014/main" id="{C1CD292F-C937-4D45-ECDB-6765C24E33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4524" y="4653052"/>
            <a:ext cx="2194138" cy="2194138"/>
          </a:xfrm>
          <a:prstGeom prst="rect">
            <a:avLst/>
          </a:prstGeom>
        </p:spPr>
      </p:pic>
      <p:pic>
        <p:nvPicPr>
          <p:cNvPr id="39" name="Picture 38" descr="A person in a white shirt&#10;&#10;AI-generated content may be incorrect.">
            <a:extLst>
              <a:ext uri="{FF2B5EF4-FFF2-40B4-BE49-F238E27FC236}">
                <a16:creationId xmlns:a16="http://schemas.microsoft.com/office/drawing/2014/main" id="{D8100774-AAA6-5366-D889-8DC5C81CA9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2139" y="4579305"/>
            <a:ext cx="2278607" cy="22786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CB2A50-0199-3332-F87E-86A85B81A9F6}"/>
              </a:ext>
            </a:extLst>
          </p:cNvPr>
          <p:cNvSpPr/>
          <p:nvPr/>
        </p:nvSpPr>
        <p:spPr>
          <a:xfrm>
            <a:off x="1873114" y="180933"/>
            <a:ext cx="525289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3 [CLS CAI3_DAT2_G6]</a:t>
            </a:r>
          </a:p>
        </p:txBody>
      </p:sp>
    </p:spTree>
    <p:extLst>
      <p:ext uri="{BB962C8B-B14F-4D97-AF65-F5344CB8AC3E}">
        <p14:creationId xmlns:p14="http://schemas.microsoft.com/office/powerpoint/2010/main" val="399775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519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0707" y="1406069"/>
            <a:ext cx="4361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8" y="2647828"/>
            <a:ext cx="812734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Largest transit network in North America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2158"/>
            <a:ext cx="812734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Data from March 2020–2025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5016419"/>
            <a:ext cx="812734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Focus: COVID‑19 recovery analysis &amp; YoY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80499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0986" y="1443335"/>
            <a:ext cx="49220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8058519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MTA Daily Ridership dataset (deprecated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8" y="3797141"/>
            <a:ext cx="8058519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Modes: Subway, Bus, LIRR, MNR, AAR, SIR, Bridges &amp; Tunnels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57465"/>
            <a:ext cx="8058519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Metrics: Ridership, Recovery %,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865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3937" y="1253869"/>
            <a:ext cx="6642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rPr dirty="0"/>
              <a:t>Data Preparation &amp;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970028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Unpivoted dataset into clean fact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7970028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Star schema: </a:t>
            </a:r>
            <a:r>
              <a:rPr dirty="0" err="1"/>
              <a:t>Fact_Riders</a:t>
            </a:r>
            <a:r>
              <a:rPr dirty="0"/>
              <a:t>, Calendar, Rider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7970028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Data cleaning &amp; type enforcement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67" y="106688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7915" y="1224234"/>
            <a:ext cx="5148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rPr dirty="0"/>
              <a:t>Key Measures (DAX)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8567" y="2290469"/>
            <a:ext cx="8127345" cy="599768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Estimated Ridership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8568" y="3119601"/>
            <a:ext cx="8127345" cy="612458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Avg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51674"/>
            <a:ext cx="8127345" cy="612458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Pre‑Pandemic Ridership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569" y="4734322"/>
            <a:ext cx="8127345" cy="709889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Recovery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" y="5658464"/>
            <a:ext cx="8127345" cy="709889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YoY %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5307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19140" y="1164659"/>
            <a:ext cx="4705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rPr dirty="0"/>
              <a:t>Dashboard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73912"/>
            <a:ext cx="8029022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2020 drop due to pandemic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50544"/>
            <a:ext cx="8029022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Strong recovery in Subway &amp;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7824"/>
            <a:ext cx="8029022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Seasonal peaks May–Oct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45104"/>
            <a:ext cx="8029022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Consistent YoY improvement (2023–2024)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2-wm0ZkQ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"/>
            <a:ext cx="1188720" cy="11020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92939" y="848975"/>
            <a:ext cx="3604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rPr dirty="0"/>
              <a:t>Tools &amp; 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91103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Power BI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791103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Power Query (M)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791103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7911035" cy="914400"/>
          </a:xfrm>
          <a:prstGeom prst="roundRect">
            <a:avLst/>
          </a:prstGeom>
          <a:solidFill>
            <a:srgbClr val="009999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Excel Staging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81D2C98-455E-FD9F-C187-35CBAE4B1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1677"/>
            <a:ext cx="9144000" cy="507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4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2807C-47CC-B7B3-DCA6-AF122A56F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6300"/>
            <a:ext cx="9144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172</Words>
  <Application>Microsoft Office PowerPoint</Application>
  <PresentationFormat>On-screen Show (4:3)</PresentationFormat>
  <Paragraphs>39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Abdou</dc:creator>
  <cp:keywords/>
  <dc:description>generated using python-pptx</dc:description>
  <cp:lastModifiedBy>Ahmed Abdou</cp:lastModifiedBy>
  <cp:revision>7</cp:revision>
  <dcterms:created xsi:type="dcterms:W3CDTF">2013-01-27T09:14:16Z</dcterms:created>
  <dcterms:modified xsi:type="dcterms:W3CDTF">2025-12-08T13:48:36Z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2025-12-08T12:23:20Z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3c1cb526-cc30-40d3-b058-2e1a1763ac3f</vt:lpwstr>
  </property>
  <property fmtid="{D5CDD505-2E9C-101B-9397-08002B2CF9AE}" pid="7" name="MSIP_Label_defa4170-0d19-0005-0004-bc88714345d2_ActionId">
    <vt:lpwstr>f74d00e5-ff30-4081-b2a8-b480f4dea140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